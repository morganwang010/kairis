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AD127-6BE1-2C10-9A6B-19DD071C7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E7F425-BE7B-B09F-8150-29F466258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398E27-123E-9EA3-B6CA-4895F56D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693C-56CE-4873-917A-C8847ED711A2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E75563-8377-7D25-D793-6FEB578C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BC9FD6-551A-286C-210A-6D9F15CD9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27A33-6EA3-4837-B7AC-CC643DF5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458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EE2BF-77B9-74D0-2A43-95F48EAA3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BED991-6C3F-762D-A61A-4C1D759EF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036829-9E99-FC9D-7E0E-BEE140F8B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693C-56CE-4873-917A-C8847ED711A2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79D50C-C412-2E7C-70F9-1191C8F6F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77770F-2851-D439-CBE8-9269CBA36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27A33-6EA3-4837-B7AC-CC643DF5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900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54C6D-9257-10B1-7C0F-D430F7223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DFFE40-105E-A2E4-3C59-B0F510A92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25DC5F-372F-BE10-782E-E00E5CAC5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693C-56CE-4873-917A-C8847ED711A2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014B4F-D282-595A-A01E-98B025C57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98B1E-0405-549D-96DD-6744B4798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27A33-6EA3-4837-B7AC-CC643DF5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440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14A515-D7DD-488A-3DDD-EF8ACA7AB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AFBA8F-437A-F2B5-7E52-DA6EA0B0C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00384A-3953-0A8A-2EFC-72B86CA4C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A053D0-80C6-79F0-CD81-155846AE6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693C-56CE-4873-917A-C8847ED711A2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4B8354-6880-37CF-1583-80C9DF6D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689F80-C9AB-3578-BD0E-617E69E4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27A33-6EA3-4837-B7AC-CC643DF5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59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3792FF-D375-C4C3-770C-D81AEDB11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B4839B-4590-BE02-C025-8166AB26D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0E3E47-520B-DC7B-017B-D9E822901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39E2A3-38EB-35A3-111B-60B6EB39B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42D6C24-E8A5-D605-9A0C-6F8D96394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2D698A5-47D9-02F7-B39D-E81B4D13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693C-56CE-4873-917A-C8847ED711A2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7D662DA-A8D1-4A44-5C5E-CDBE9D69A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9D52E7-3AED-4C9D-AF65-7CB29ABA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27A33-6EA3-4837-B7AC-CC643DF5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759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55FB84-F043-871E-9670-23272FE45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916AD62-F553-6DF8-F77F-708B1D76E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693C-56CE-4873-917A-C8847ED711A2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13D7C2-0AF5-ED5F-C1CD-98C79A848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31F7C2-1F0E-A62E-C94F-EEEAFA9BD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27A33-6EA3-4837-B7AC-CC643DF5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00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76A2D2-1670-1DD0-B4A1-2F5CA1E77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693C-56CE-4873-917A-C8847ED711A2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403DC4-03BD-DF45-FDE9-F8A710E7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1CECFD-F048-5669-2877-4EF74556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27A33-6EA3-4837-B7AC-CC643DF5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83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45C54-80F6-2B22-6815-021726CEC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470B20-D1CE-2421-2E9C-4735709C4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0A7471-C117-0D44-4D63-67A668A77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BD5A8B-47F6-B4D3-A526-2311D62D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693C-56CE-4873-917A-C8847ED711A2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09E483-33FE-4B59-0908-98C42386B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1D6F18-6089-0ABC-67F0-61D2E6B8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27A33-6EA3-4837-B7AC-CC643DF5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792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7330A9-8DA7-A2EE-9EF0-84A69E02D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7169D0-2044-FA6C-8B4A-4997010C3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90DCB3-576B-9750-30B8-3496C82D8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B6DB8B-2052-1E8B-103A-0A7D99A01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693C-56CE-4873-917A-C8847ED711A2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DDB548-2C43-CE3C-6DCB-A7AE01366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42B22D-9D5E-0C47-9C42-41ADEAF1E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27A33-6EA3-4837-B7AC-CC643DF5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23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FE2C22-1E40-D2B1-2EB9-89E9DBDE0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D9F606-9471-7277-EBC6-C832EFDF8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909E01-64CB-A4BD-B6C1-64E207A25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693C-56CE-4873-917A-C8847ED711A2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C88B38-7584-31E9-881A-874B68949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F78D19-C44B-F3EB-0A7F-9ADACFEE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27A33-6EA3-4837-B7AC-CC643DF5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295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4ACC2F-8CC2-3BB1-D3E9-90922F9285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78093F-EA54-57CD-4CEC-3D20ECCC6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639FFF-E856-FD8B-673E-136B1CD83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0693C-56CE-4873-917A-C8847ED711A2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FA3BAC-29D1-94DD-20D3-5C608B407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DEF498-894B-833C-8799-67E8D8DC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27A33-6EA3-4837-B7AC-CC643DF5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815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92CFB19-461A-5B4E-4079-E2324DF4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043BC2-7E75-ABBF-7592-8871B63A2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97EF7E-B6DE-4281-E14D-F5257551F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0693C-56CE-4873-917A-C8847ED711A2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D8C2D9-55A2-9173-99BB-38331AE0E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AE51F2-536B-6CED-6940-06BC3EB89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627A33-6EA3-4837-B7AC-CC643DF5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32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package" Target="../embeddings/Microsoft_Excel_Worksheet2.xlsx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1.xml"/><Relationship Id="rId6" Type="http://schemas.openxmlformats.org/officeDocument/2006/relationships/package" Target="../embeddings/Microsoft_Excel_Worksheet5.xlsx"/><Relationship Id="rId5" Type="http://schemas.openxmlformats.org/officeDocument/2006/relationships/image" Target="../media/image5.emf"/><Relationship Id="rId4" Type="http://schemas.openxmlformats.org/officeDocument/2006/relationships/package" Target="../embeddings/Microsoft_Excel_Worksheet4.xlsx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1AE2174-483A-F2ED-8568-84A2C8106A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145096"/>
              </p:ext>
            </p:extLst>
          </p:nvPr>
        </p:nvGraphicFramePr>
        <p:xfrm>
          <a:off x="130175" y="193675"/>
          <a:ext cx="12139613" cy="380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839442" imgH="3086100" progId="Excel.Sheet.12">
                  <p:embed/>
                </p:oleObj>
              </mc:Choice>
              <mc:Fallback>
                <p:oleObj name="Worksheet" r:id="rId2" imgW="9839442" imgH="3086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0175" y="193675"/>
                        <a:ext cx="12139613" cy="3806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B3667FB9-6E47-F3CD-7C80-92D8B9955463}"/>
              </a:ext>
            </a:extLst>
          </p:cNvPr>
          <p:cNvSpPr txBox="1"/>
          <p:nvPr/>
        </p:nvSpPr>
        <p:spPr>
          <a:xfrm>
            <a:off x="130628" y="4169620"/>
            <a:ext cx="120118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关于时间重合的判定：</a:t>
            </a:r>
            <a:endParaRPr lang="en-US" altLang="zh-CN" sz="18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去程：当现场出勤或者前线基地出勤和非现场出勤重叠时，按照现场或者前线基地出勤算。现场和前线的优先级高于非现场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回程：</a:t>
            </a:r>
            <a:r>
              <a:rPr lang="en-US" altLang="zh-CN" dirty="0">
                <a:solidFill>
                  <a:srgbClr val="FF0000"/>
                </a:solidFill>
              </a:rPr>
              <a:t>Site--Jakarta</a:t>
            </a:r>
            <a:r>
              <a:rPr lang="zh-CN" altLang="en-US" dirty="0">
                <a:solidFill>
                  <a:srgbClr val="FF0000"/>
                </a:solidFill>
              </a:rPr>
              <a:t>如果</a:t>
            </a:r>
            <a:r>
              <a:rPr lang="en-US" altLang="zh-CN" dirty="0">
                <a:solidFill>
                  <a:srgbClr val="FF0000"/>
                </a:solidFill>
              </a:rPr>
              <a:t>12</a:t>
            </a:r>
            <a:r>
              <a:rPr lang="zh-CN" altLang="en-US" dirty="0">
                <a:solidFill>
                  <a:srgbClr val="FF0000"/>
                </a:solidFill>
              </a:rPr>
              <a:t>点之前航班，当天不算现场出勤（算非现场出勤），</a:t>
            </a:r>
            <a:r>
              <a:rPr lang="en-US" altLang="zh-CN" dirty="0">
                <a:solidFill>
                  <a:srgbClr val="FF0000"/>
                </a:solidFill>
              </a:rPr>
              <a:t>Jakarta—China</a:t>
            </a:r>
            <a:r>
              <a:rPr lang="zh-CN" altLang="en-US" dirty="0">
                <a:solidFill>
                  <a:srgbClr val="FF0000"/>
                </a:solidFill>
              </a:rPr>
              <a:t>凌晨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点之前的航班，不算非现场出勤（算成当月休假天数）。其他时间段的，按照优先算现场或前线基地出勤算。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类别：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是现场，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是非现场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394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3A65-6C48-575D-DAC2-0155AF561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04B42F9-341D-C29D-1FAB-9F0232654D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50953"/>
              </p:ext>
            </p:extLst>
          </p:nvPr>
        </p:nvGraphicFramePr>
        <p:xfrm>
          <a:off x="0" y="1654628"/>
          <a:ext cx="121443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978929" imgH="692109" progId="Excel.Sheet.12">
                  <p:embed/>
                </p:oleObj>
              </mc:Choice>
              <mc:Fallback>
                <p:oleObj name="Worksheet" r:id="rId2" imgW="8978929" imgH="692109" progId="Excel.Sheet.12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69CF786-6559-BFA4-8163-6AF7D04629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54628"/>
                        <a:ext cx="12144375" cy="936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60B566AC-E441-7203-4D18-116456BA0D13}"/>
              </a:ext>
            </a:extLst>
          </p:cNvPr>
          <p:cNvSpPr txBox="1"/>
          <p:nvPr/>
        </p:nvSpPr>
        <p:spPr>
          <a:xfrm>
            <a:off x="195943" y="2863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因为是去程同天，时间重合了，所以按照现场考勤算。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97B39747-7D76-B989-8ECA-F9D86744A9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878747"/>
              </p:ext>
            </p:extLst>
          </p:nvPr>
        </p:nvGraphicFramePr>
        <p:xfrm>
          <a:off x="-2" y="3407227"/>
          <a:ext cx="12144457" cy="936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8978929" imgH="692109" progId="Excel.Sheet.12">
                  <p:embed/>
                </p:oleObj>
              </mc:Choice>
              <mc:Fallback>
                <p:oleObj name="Worksheet" r:id="rId4" imgW="8978929" imgH="692109" progId="Excel.Sheet.12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298E4F95-D8C3-76DE-9EE8-E8F1DB1255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2" y="3407227"/>
                        <a:ext cx="12144457" cy="936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7CDC8119-2D6F-C0CF-3877-0FD1DF5A1BE6}"/>
              </a:ext>
            </a:extLst>
          </p:cNvPr>
          <p:cNvSpPr txBox="1"/>
          <p:nvPr/>
        </p:nvSpPr>
        <p:spPr>
          <a:xfrm>
            <a:off x="195943" y="4572388"/>
            <a:ext cx="11353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因为是去程不考虑具体时间：虽然中国到雅加达航班时间在凌晨</a:t>
            </a:r>
            <a:r>
              <a:rPr lang="en-US" altLang="zh-CN" dirty="0"/>
              <a:t>4</a:t>
            </a:r>
            <a:r>
              <a:rPr lang="zh-CN" altLang="en-US" dirty="0"/>
              <a:t>点之前，但是去程不考虑具体时间，所以非现场考勤开始日期为</a:t>
            </a:r>
            <a:r>
              <a:rPr lang="en-US" altLang="zh-CN" dirty="0"/>
              <a:t>20260704</a:t>
            </a:r>
            <a:r>
              <a:rPr lang="zh-CN" altLang="en-US" dirty="0"/>
              <a:t>，结束日期为</a:t>
            </a:r>
            <a:r>
              <a:rPr lang="en-US" altLang="zh-CN" dirty="0"/>
              <a:t>20260705.</a:t>
            </a:r>
            <a:r>
              <a:rPr lang="zh-CN" altLang="en-US" dirty="0"/>
              <a:t>非现场考勤为</a:t>
            </a:r>
            <a:r>
              <a:rPr lang="en-US" altLang="zh-CN" dirty="0"/>
              <a:t>1</a:t>
            </a:r>
            <a:r>
              <a:rPr lang="zh-CN" altLang="en-US" dirty="0"/>
              <a:t>天。</a:t>
            </a:r>
            <a:endParaRPr lang="en-US" altLang="zh-CN" dirty="0"/>
          </a:p>
          <a:p>
            <a:r>
              <a:rPr lang="en-US" altLang="zh-CN" dirty="0"/>
              <a:t>20260705</a:t>
            </a:r>
            <a:r>
              <a:rPr lang="zh-CN" altLang="en-US" dirty="0"/>
              <a:t>虽然去现场的航班时间在</a:t>
            </a:r>
            <a:r>
              <a:rPr lang="en-US" altLang="zh-CN" dirty="0"/>
              <a:t>12</a:t>
            </a:r>
            <a:r>
              <a:rPr lang="zh-CN" altLang="en-US" dirty="0"/>
              <a:t>点之前，但是去程不考虑具体时间，所以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5</a:t>
            </a:r>
            <a:r>
              <a:rPr lang="zh-CN" altLang="en-US" dirty="0"/>
              <a:t>日为现场考勤。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注：前线基地出勤和现场出勤是一样的，只是针对的员工类型不同。</a:t>
            </a:r>
          </a:p>
        </p:txBody>
      </p:sp>
      <p:sp>
        <p:nvSpPr>
          <p:cNvPr id="2" name="文本框 21">
            <a:extLst>
              <a:ext uri="{FF2B5EF4-FFF2-40B4-BE49-F238E27FC236}">
                <a16:creationId xmlns:a16="http://schemas.microsoft.com/office/drawing/2014/main" id="{3C58A267-C9A4-43E4-A84C-AEFCBBE03072}"/>
              </a:ext>
            </a:extLst>
          </p:cNvPr>
          <p:cNvSpPr txBox="1"/>
          <p:nvPr/>
        </p:nvSpPr>
        <p:spPr>
          <a:xfrm>
            <a:off x="145514" y="207224"/>
            <a:ext cx="11948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出国上班</a:t>
            </a:r>
            <a:endParaRPr lang="en-US" altLang="zh-CN" sz="3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564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69CF786-6559-BFA4-8163-6AF7D04629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466746"/>
              </p:ext>
            </p:extLst>
          </p:nvPr>
        </p:nvGraphicFramePr>
        <p:xfrm>
          <a:off x="-1" y="1197430"/>
          <a:ext cx="12144457" cy="936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978929" imgH="692109" progId="Excel.Sheet.12">
                  <p:embed/>
                </p:oleObj>
              </mc:Choice>
              <mc:Fallback>
                <p:oleObj name="Worksheet" r:id="rId2" imgW="8978929" imgH="69210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" y="1197430"/>
                        <a:ext cx="12144457" cy="936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DB38D758-E323-983F-4444-02E3C7368229}"/>
              </a:ext>
            </a:extLst>
          </p:cNvPr>
          <p:cNvSpPr txBox="1"/>
          <p:nvPr/>
        </p:nvSpPr>
        <p:spPr>
          <a:xfrm>
            <a:off x="195942" y="2406137"/>
            <a:ext cx="11948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回程需要看具体时间，从现场到雅加达，因为时间在</a:t>
            </a:r>
            <a:r>
              <a:rPr lang="en-US" altLang="zh-CN" dirty="0"/>
              <a:t>12</a:t>
            </a:r>
            <a:r>
              <a:rPr lang="zh-CN" altLang="en-US" dirty="0"/>
              <a:t>点之前，所以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13</a:t>
            </a:r>
            <a:r>
              <a:rPr lang="zh-CN" altLang="en-US" dirty="0"/>
              <a:t>日算非现场考勤。</a:t>
            </a:r>
            <a:endParaRPr lang="en-US" altLang="zh-CN" dirty="0"/>
          </a:p>
          <a:p>
            <a:r>
              <a:rPr lang="zh-CN" altLang="en-US" dirty="0"/>
              <a:t>从雅加达到中国，由于时间在凌晨</a:t>
            </a:r>
            <a:r>
              <a:rPr lang="en-US" altLang="zh-CN" dirty="0"/>
              <a:t>4</a:t>
            </a:r>
            <a:r>
              <a:rPr lang="zh-CN" altLang="en-US" dirty="0"/>
              <a:t>点之前，所以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14</a:t>
            </a:r>
            <a:r>
              <a:rPr lang="zh-CN" altLang="en-US" dirty="0"/>
              <a:t>日算休假天数。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7E838F2-6FBE-52D9-CD75-B9F4981067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955483"/>
              </p:ext>
            </p:extLst>
          </p:nvPr>
        </p:nvGraphicFramePr>
        <p:xfrm>
          <a:off x="-1" y="3189516"/>
          <a:ext cx="12144457" cy="936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8978929" imgH="692109" progId="Excel.Sheet.12">
                  <p:embed/>
                </p:oleObj>
              </mc:Choice>
              <mc:Fallback>
                <p:oleObj name="Worksheet" r:id="rId4" imgW="8978929" imgH="692109" progId="Excel.Sheet.12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69CF786-6559-BFA4-8163-6AF7D04629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" y="3189516"/>
                        <a:ext cx="12144457" cy="936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B8663F89-0B88-F57B-11A9-06AA92FD5F5E}"/>
              </a:ext>
            </a:extLst>
          </p:cNvPr>
          <p:cNvSpPr txBox="1"/>
          <p:nvPr/>
        </p:nvSpPr>
        <p:spPr>
          <a:xfrm>
            <a:off x="97970" y="4480845"/>
            <a:ext cx="11948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回程需要看具体时间，如果两段形成都在特殊时间段内，那么只按照第一程时间算。现场回雅加达在</a:t>
            </a:r>
            <a:r>
              <a:rPr lang="en-US" altLang="zh-CN" dirty="0"/>
              <a:t>12</a:t>
            </a:r>
            <a:r>
              <a:rPr lang="zh-CN" altLang="en-US" dirty="0"/>
              <a:t>点前，所以当天为非现场考勤，虽然当天还有回国的机票，但是不考虑了。</a:t>
            </a:r>
            <a:endParaRPr lang="en-US" altLang="zh-CN" dirty="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69787AD2-FF4A-7E9A-480F-9F8E377511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706338"/>
              </p:ext>
            </p:extLst>
          </p:nvPr>
        </p:nvGraphicFramePr>
        <p:xfrm>
          <a:off x="47543" y="5192483"/>
          <a:ext cx="12144457" cy="936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8978929" imgH="692109" progId="Excel.Sheet.12">
                  <p:embed/>
                </p:oleObj>
              </mc:Choice>
              <mc:Fallback>
                <p:oleObj name="Worksheet" r:id="rId6" imgW="8978929" imgH="692109" progId="Excel.Sheet.12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B7E838F2-6FBE-52D9-CD75-B9F4981067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543" y="5192483"/>
                        <a:ext cx="12144457" cy="936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814B0402-9426-367D-7FFE-8138EBEC3609}"/>
              </a:ext>
            </a:extLst>
          </p:cNvPr>
          <p:cNvSpPr txBox="1"/>
          <p:nvPr/>
        </p:nvSpPr>
        <p:spPr>
          <a:xfrm>
            <a:off x="-1" y="6396725"/>
            <a:ext cx="11948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回程需要看具体时间，由于两段时间都在特殊时间段外，所以按照现场优先级大于非现场，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14</a:t>
            </a:r>
            <a:r>
              <a:rPr lang="zh-CN" altLang="en-US" dirty="0"/>
              <a:t>日为现场考勤</a:t>
            </a:r>
            <a:endParaRPr lang="en-US" altLang="zh-CN" dirty="0"/>
          </a:p>
        </p:txBody>
      </p:sp>
      <p:sp>
        <p:nvSpPr>
          <p:cNvPr id="3" name="文本框 21">
            <a:extLst>
              <a:ext uri="{FF2B5EF4-FFF2-40B4-BE49-F238E27FC236}">
                <a16:creationId xmlns:a16="http://schemas.microsoft.com/office/drawing/2014/main" id="{814B0402-9426-367D-7FFE-8138EBEC3609}"/>
              </a:ext>
            </a:extLst>
          </p:cNvPr>
          <p:cNvSpPr txBox="1"/>
          <p:nvPr/>
        </p:nvSpPr>
        <p:spPr>
          <a:xfrm>
            <a:off x="145514" y="207224"/>
            <a:ext cx="11948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回国休假</a:t>
            </a:r>
            <a:endParaRPr lang="en-US" altLang="zh-CN" sz="3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566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22AE5-BE38-BFC0-19BF-A858532C0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1">
            <a:extLst>
              <a:ext uri="{FF2B5EF4-FFF2-40B4-BE49-F238E27FC236}">
                <a16:creationId xmlns:a16="http://schemas.microsoft.com/office/drawing/2014/main" id="{591317DD-C65B-C498-FD29-2CD438B17FE2}"/>
              </a:ext>
            </a:extLst>
          </p:cNvPr>
          <p:cNvSpPr txBox="1"/>
          <p:nvPr/>
        </p:nvSpPr>
        <p:spPr>
          <a:xfrm>
            <a:off x="145514" y="207224"/>
            <a:ext cx="11948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从一个现场去另一个现场，雅加达中转</a:t>
            </a:r>
            <a:endParaRPr lang="en-US" altLang="zh-CN" sz="3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D0DA04-6549-2CFE-1E30-F0F54335203C}"/>
              </a:ext>
            </a:extLst>
          </p:cNvPr>
          <p:cNvSpPr txBox="1"/>
          <p:nvPr/>
        </p:nvSpPr>
        <p:spPr>
          <a:xfrm>
            <a:off x="145513" y="1135521"/>
            <a:ext cx="11632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从一个现场去另一个现场，雅加达中转，上午</a:t>
            </a:r>
            <a:r>
              <a:rPr lang="en-US" altLang="zh-CN" dirty="0"/>
              <a:t>8</a:t>
            </a:r>
            <a:r>
              <a:rPr lang="zh-CN" altLang="en-US" dirty="0"/>
              <a:t>点飞机到雅加达，然后</a:t>
            </a:r>
            <a:r>
              <a:rPr lang="en-US" altLang="zh-CN" dirty="0"/>
              <a:t>10</a:t>
            </a:r>
            <a:r>
              <a:rPr lang="zh-CN" altLang="en-US" dirty="0"/>
              <a:t>点从雅加达飞去外岛，这天算现场出勤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D6CEF2-7997-4223-7990-45E488EE66E6}"/>
              </a:ext>
            </a:extLst>
          </p:cNvPr>
          <p:cNvSpPr txBox="1"/>
          <p:nvPr/>
        </p:nvSpPr>
        <p:spPr>
          <a:xfrm>
            <a:off x="145513" y="1693706"/>
            <a:ext cx="11632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逻辑是，当天</a:t>
            </a:r>
            <a:r>
              <a:rPr lang="en-US" altLang="zh-CN" dirty="0"/>
              <a:t>12</a:t>
            </a:r>
            <a:r>
              <a:rPr lang="zh-CN" altLang="en-US" dirty="0"/>
              <a:t>点之前飞雅加达，算非现场，但是当天还有去外岛的去程机票，算现场。现场的优先级大于非现场，所以算现场</a:t>
            </a:r>
          </a:p>
        </p:txBody>
      </p:sp>
      <p:sp>
        <p:nvSpPr>
          <p:cNvPr id="8" name="文本框 21">
            <a:extLst>
              <a:ext uri="{FF2B5EF4-FFF2-40B4-BE49-F238E27FC236}">
                <a16:creationId xmlns:a16="http://schemas.microsoft.com/office/drawing/2014/main" id="{10F3AC6B-4D4C-55AE-B302-A1F5423CD209}"/>
              </a:ext>
            </a:extLst>
          </p:cNvPr>
          <p:cNvSpPr txBox="1"/>
          <p:nvPr/>
        </p:nvSpPr>
        <p:spPr>
          <a:xfrm>
            <a:off x="97974" y="2528890"/>
            <a:ext cx="11948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从一个现场去另一个现场，非雅加达中转</a:t>
            </a:r>
            <a:endParaRPr lang="en-US" altLang="zh-CN" sz="3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AA7D8E-B5C5-1DBF-18C5-4696002C2C9D}"/>
              </a:ext>
            </a:extLst>
          </p:cNvPr>
          <p:cNvSpPr txBox="1"/>
          <p:nvPr/>
        </p:nvSpPr>
        <p:spPr>
          <a:xfrm>
            <a:off x="97974" y="3552927"/>
            <a:ext cx="11632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没有该现象，无需考虑</a:t>
            </a:r>
          </a:p>
        </p:txBody>
      </p:sp>
    </p:spTree>
    <p:extLst>
      <p:ext uri="{BB962C8B-B14F-4D97-AF65-F5344CB8AC3E}">
        <p14:creationId xmlns:p14="http://schemas.microsoft.com/office/powerpoint/2010/main" val="1144431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A9CB-75FC-88D8-4741-3EE871E3E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1">
            <a:extLst>
              <a:ext uri="{FF2B5EF4-FFF2-40B4-BE49-F238E27FC236}">
                <a16:creationId xmlns:a16="http://schemas.microsoft.com/office/drawing/2014/main" id="{771110FE-A112-71E4-589A-B8F46B18986B}"/>
              </a:ext>
            </a:extLst>
          </p:cNvPr>
          <p:cNvSpPr txBox="1"/>
          <p:nvPr/>
        </p:nvSpPr>
        <p:spPr>
          <a:xfrm>
            <a:off x="145514" y="207224"/>
            <a:ext cx="11948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想到的问题</a:t>
            </a:r>
            <a:endParaRPr lang="en-US" altLang="zh-CN" sz="3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C92A5A-C9B4-4F6D-C763-F40D6C9DE4EF}"/>
              </a:ext>
            </a:extLst>
          </p:cNvPr>
          <p:cNvSpPr txBox="1"/>
          <p:nvPr/>
        </p:nvSpPr>
        <p:spPr>
          <a:xfrm>
            <a:off x="145513" y="1135521"/>
            <a:ext cx="116328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、一个人，一天或一个月可能有两条或更多的行程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、员工一般出国最少要呆三个月，出国时间和回国时间跨月份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、超期工作天数要基于以往的数据计算</a:t>
            </a:r>
          </a:p>
        </p:txBody>
      </p:sp>
    </p:spTree>
    <p:extLst>
      <p:ext uri="{BB962C8B-B14F-4D97-AF65-F5344CB8AC3E}">
        <p14:creationId xmlns:p14="http://schemas.microsoft.com/office/powerpoint/2010/main" val="2567939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2502</TotalTime>
  <Words>507</Words>
  <Application>Microsoft Office PowerPoint</Application>
  <PresentationFormat>宽屏</PresentationFormat>
  <Paragraphs>26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Worksheet</vt:lpstr>
      <vt:lpstr>Microsoft Excel 工作表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</dc:creator>
  <cp:lastModifiedBy>morgan</cp:lastModifiedBy>
  <cp:revision>17</cp:revision>
  <dcterms:created xsi:type="dcterms:W3CDTF">2026-08-05T05:32:02Z</dcterms:created>
  <dcterms:modified xsi:type="dcterms:W3CDTF">2026-09-28T05:48:43Z</dcterms:modified>
</cp:coreProperties>
</file>